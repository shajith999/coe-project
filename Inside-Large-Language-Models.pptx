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"/>
      <p:regular r:id="rId201314"/>
    </p:embeddedFont>
    <p:embeddedFont>
      <p:font typeface="Bitter Bold"/>
      <p:regular r:id="rId201315"/>
    </p:embeddedFont>
    <p:embeddedFont>
      <p:font typeface="Bitter Black"/>
      <p:regular r:id="rId201316"/>
    </p:embeddedFont>
    <p:embeddedFont>
      <p:font typeface="Outfit"/>
      <p:regular r:id="rId201317"/>
    </p:embeddedFont>
    <p:embeddedFont>
      <p:font typeface="Outfit Bold"/>
      <p:regular r:id="rId201318"/>
    </p:embeddedFont>
    <p:embeddedFont>
      <p:font typeface="Outfi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Inside Large Language Models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C28 – AI Immersion Series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Student Name: [Your Name]  |  Register Number: [Your ID]  |  Department: [Your Department]  |  Section: [Your Section]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301651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is an LLM?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95177"/>
            <a:ext cx="2009129" cy="1191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7803" y="2030710"/>
            <a:ext cx="16872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47803" y="2302470"/>
            <a:ext cx="1687272" cy="648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neural network trained on vast text data to predict and generate human-like language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66269"/>
            <a:ext cx="2009129" cy="10291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7803" y="3301802"/>
            <a:ext cx="16872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47803" y="3573562"/>
            <a:ext cx="168727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Powers AI assistants, code generation, content creation, and intelligent automation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275237"/>
            <a:ext cx="2009129" cy="1191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7803" y="4410770"/>
            <a:ext cx="16872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47803" y="4682530"/>
            <a:ext cx="1687272" cy="648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Converts your prompt into tokens → processes through layers → generates a response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4474" y="3121918"/>
            <a:ext cx="2592124" cy="11177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48911" y="4027740"/>
            <a:ext cx="588059" cy="7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Response</a:t>
            </a:r>
            <a:endParaRPr lang="en-US" sz="450" dirty="0"/>
          </a:p>
        </p:txBody>
      </p:sp>
      <p:sp>
        <p:nvSpPr>
          <p:cNvPr id="15" name="Text 8"/>
          <p:cNvSpPr/>
          <p:nvPr/>
        </p:nvSpPr>
        <p:spPr>
          <a:xfrm>
            <a:off x="3848911" y="3768988"/>
            <a:ext cx="588059" cy="7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Model Processing</a:t>
            </a:r>
            <a:endParaRPr lang="en-US" sz="450" dirty="0"/>
          </a:p>
        </p:txBody>
      </p:sp>
      <p:sp>
        <p:nvSpPr>
          <p:cNvPr id="16" name="Text 9"/>
          <p:cNvSpPr/>
          <p:nvPr/>
        </p:nvSpPr>
        <p:spPr>
          <a:xfrm>
            <a:off x="3848911" y="3512849"/>
            <a:ext cx="588059" cy="7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Tokens</a:t>
            </a:r>
            <a:endParaRPr lang="en-US" sz="450" dirty="0"/>
          </a:p>
        </p:txBody>
      </p:sp>
      <p:sp>
        <p:nvSpPr>
          <p:cNvPr id="17" name="Text 10"/>
          <p:cNvSpPr/>
          <p:nvPr/>
        </p:nvSpPr>
        <p:spPr>
          <a:xfrm>
            <a:off x="3848911" y="3254097"/>
            <a:ext cx="588059" cy="7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Prompt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31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LLM Platform Comparison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218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ChatGPT vs Gemini vs Claude — same prompt, three perspectives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36874"/>
            <a:ext cx="1524756" cy="942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31549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ChatGPT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724176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Conversational, strong reasoning, broad world knowledge. Excels at nuanced explanation and coding assistance.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136874"/>
            <a:ext cx="1524756" cy="9423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331549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Gemini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372417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Multimodal-first with real-time data access and deep integration with Google services and Search.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136874"/>
            <a:ext cx="1524756" cy="9423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331549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Claude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372417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Long context window, detailed analytical responses, and a strong focus on safety and helpfulness.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146477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474A3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414169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38271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Hands-On Experiment: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Insert the same test prompt into all three platforms. Compare tone, clarity, depth, accuracy, structure, and usefulness. Add screenshots and response analysis below.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270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Transformer Architecture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2375595"/>
            <a:ext cx="4866161" cy="2659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45967" y="3621523"/>
            <a:ext cx="1127499" cy="153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Input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93094" y="3604223"/>
            <a:ext cx="1127499" cy="153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Tokenization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802256" y="3609762"/>
            <a:ext cx="1127499" cy="153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Embedding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942163" y="1647627"/>
            <a:ext cx="359430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Core Components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42163" y="1958479"/>
            <a:ext cx="3594308" cy="743744"/>
          </a:xfrm>
          <a:prstGeom prst="roundRect">
            <a:avLst>
              <a:gd name="adj" fmla="val 2669"/>
            </a:avLst>
          </a:prstGeom>
          <a:solidFill>
            <a:srgbClr val="3B3C3E"/>
          </a:solidFill>
          <a:ln/>
        </p:spPr>
      </p:sp>
      <p:sp>
        <p:nvSpPr>
          <p:cNvPr id="9" name="Text 6"/>
          <p:cNvSpPr/>
          <p:nvPr/>
        </p:nvSpPr>
        <p:spPr>
          <a:xfrm>
            <a:off x="8074418" y="2090737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74418" y="2389981"/>
            <a:ext cx="332979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Processes and understands the full input sequence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42163" y="2794794"/>
            <a:ext cx="3594308" cy="923727"/>
          </a:xfrm>
          <a:prstGeom prst="roundRect">
            <a:avLst>
              <a:gd name="adj" fmla="val 2149"/>
            </a:avLst>
          </a:prstGeom>
          <a:solidFill>
            <a:srgbClr val="3B3C3E"/>
          </a:solidFill>
          <a:ln/>
        </p:spPr>
      </p:sp>
      <p:sp>
        <p:nvSpPr>
          <p:cNvPr id="12" name="Text 9"/>
          <p:cNvSpPr/>
          <p:nvPr/>
        </p:nvSpPr>
        <p:spPr>
          <a:xfrm>
            <a:off x="8074418" y="2927052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Decoder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74418" y="3226296"/>
            <a:ext cx="332979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Generates the output token-by-token from encoded context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42163" y="3811091"/>
            <a:ext cx="3594308" cy="923727"/>
          </a:xfrm>
          <a:prstGeom prst="roundRect">
            <a:avLst>
              <a:gd name="adj" fmla="val 2149"/>
            </a:avLst>
          </a:prstGeom>
          <a:solidFill>
            <a:srgbClr val="3B3C3E"/>
          </a:solidFill>
          <a:ln/>
        </p:spPr>
      </p:sp>
      <p:sp>
        <p:nvSpPr>
          <p:cNvPr id="15" name="Text 12"/>
          <p:cNvSpPr/>
          <p:nvPr/>
        </p:nvSpPr>
        <p:spPr>
          <a:xfrm>
            <a:off x="8074418" y="3943350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74418" y="4242594"/>
            <a:ext cx="332979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Identifies relationships between words regardless of distance in the sentence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42163" y="4827389"/>
            <a:ext cx="3594308" cy="923727"/>
          </a:xfrm>
          <a:prstGeom prst="roundRect">
            <a:avLst>
              <a:gd name="adj" fmla="val 2149"/>
            </a:avLst>
          </a:prstGeom>
          <a:solidFill>
            <a:srgbClr val="3B3C3E"/>
          </a:solidFill>
          <a:ln/>
        </p:spPr>
      </p:sp>
      <p:sp>
        <p:nvSpPr>
          <p:cNvPr id="18" name="Text 15"/>
          <p:cNvSpPr/>
          <p:nvPr/>
        </p:nvSpPr>
        <p:spPr>
          <a:xfrm>
            <a:off x="8074418" y="4959648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Stacked Layers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74418" y="5258891"/>
            <a:ext cx="332979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Multiple transformer blocks refine language understanding progressively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Tokens &amp; Embeddings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61475" y="3171130"/>
            <a:ext cx="532483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Part A — Tokenization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3353891"/>
            <a:ext cx="5934423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Text is broken into small processable units before the model can read it.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96111" y="3545979"/>
            <a:ext cx="5190201" cy="211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Example:</a:t>
            </a:r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"AI understands human language"</a:t>
            </a:r>
            <a:endParaRPr lang="en-US" sz="7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→ ["AI", " understands", " human", " language"]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61475" y="3507680"/>
            <a:ext cx="12700" cy="288330"/>
          </a:xfrm>
          <a:prstGeom prst="roundRect">
            <a:avLst>
              <a:gd name="adj" fmla="val 49999"/>
            </a:avLst>
          </a:prstGeom>
          <a:solidFill>
            <a:srgbClr val="9FA582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3843933"/>
            <a:ext cx="5324838" cy="226616"/>
          </a:xfrm>
          <a:prstGeom prst="rect">
            <a:avLst/>
          </a:prstGeom>
          <a:noFill/>
          <a:ln/>
        </p:spPr>
        <p:txBody>
          <a:bodyPr wrap="square" lIns="0" tIns="35913" rIns="0" bIns="0" rtlCol="0" anchor="t">
            <a:normAutofit/>
          </a:bodyPr>
          <a:lstStyle/>
          <a:p>
            <a:pPr algn="l" marL="142240" indent="-142240">
              <a:lnSpc>
                <a:spcPct val="98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Tokens can be words, subwords, or characters</a:t>
            </a:r>
            <a:endParaRPr lang="en-US" sz="700" dirty="0"/>
          </a:p>
          <a:p>
            <a:pPr algn="l" marL="142240" indent="-142240">
              <a:lnSpc>
                <a:spcPct val="98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Tokens determine processing cost, speed, and context limits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211732" y="906760"/>
            <a:ext cx="532483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Part B — Embeddings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1732" y="1089521"/>
            <a:ext cx="5934423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token is mapped to a high-dimensional numerical vector capturing its meaning.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1732" y="1243310"/>
            <a:ext cx="5058541" cy="50586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200745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Attention Mechanism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362" y="3087588"/>
            <a:ext cx="2592124" cy="11863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344163" y="3945349"/>
            <a:ext cx="486652" cy="187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Context Output</a:t>
            </a:r>
            <a:endParaRPr lang="en-US" sz="550" dirty="0"/>
          </a:p>
        </p:txBody>
      </p:sp>
      <p:sp>
        <p:nvSpPr>
          <p:cNvPr id="6" name="Text 2"/>
          <p:cNvSpPr/>
          <p:nvPr/>
        </p:nvSpPr>
        <p:spPr>
          <a:xfrm>
            <a:off x="2730849" y="3945349"/>
            <a:ext cx="486652" cy="187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Attention Weights</a:t>
            </a:r>
            <a:endParaRPr lang="en-US" sz="550" dirty="0"/>
          </a:p>
        </p:txBody>
      </p:sp>
      <p:sp>
        <p:nvSpPr>
          <p:cNvPr id="7" name="Text 3"/>
          <p:cNvSpPr/>
          <p:nvPr/>
        </p:nvSpPr>
        <p:spPr>
          <a:xfrm>
            <a:off x="2120867" y="3945349"/>
            <a:ext cx="486652" cy="187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Q/K/V Compute</a:t>
            </a:r>
            <a:endParaRPr lang="en-US" sz="550" dirty="0"/>
          </a:p>
        </p:txBody>
      </p:sp>
      <p:sp>
        <p:nvSpPr>
          <p:cNvPr id="8" name="Text 4"/>
          <p:cNvSpPr/>
          <p:nvPr/>
        </p:nvSpPr>
        <p:spPr>
          <a:xfrm>
            <a:off x="1497554" y="3992224"/>
            <a:ext cx="486652" cy="93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Input</a:t>
            </a:r>
            <a:endParaRPr lang="en-US" sz="550" dirty="0"/>
          </a:p>
        </p:txBody>
      </p:sp>
      <p:sp>
        <p:nvSpPr>
          <p:cNvPr id="9" name="Text 5"/>
          <p:cNvSpPr/>
          <p:nvPr/>
        </p:nvSpPr>
        <p:spPr>
          <a:xfrm>
            <a:off x="4955456" y="1784251"/>
            <a:ext cx="2009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Attention Works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955456" y="2066032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1" name="Text 7"/>
          <p:cNvSpPr/>
          <p:nvPr/>
        </p:nvSpPr>
        <p:spPr>
          <a:xfrm>
            <a:off x="5001542" y="208910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311642" y="2108200"/>
            <a:ext cx="16529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Query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11642" y="2379960"/>
            <a:ext cx="165294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the current word is looking for in context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955456" y="2863850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5" name="Text 11"/>
          <p:cNvSpPr/>
          <p:nvPr/>
        </p:nvSpPr>
        <p:spPr>
          <a:xfrm>
            <a:off x="5001542" y="288691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311642" y="2906018"/>
            <a:ext cx="16529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11642" y="3177778"/>
            <a:ext cx="165294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each other word offers as identifiable information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955456" y="3661668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9" name="Text 15"/>
          <p:cNvSpPr/>
          <p:nvPr/>
        </p:nvSpPr>
        <p:spPr>
          <a:xfrm>
            <a:off x="5001542" y="3684736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311642" y="3703836"/>
            <a:ext cx="16529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Value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11642" y="3975596"/>
            <a:ext cx="165294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actual content retrieved when a match is found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955456" y="4389636"/>
            <a:ext cx="2009129" cy="1177727"/>
          </a:xfrm>
          <a:prstGeom prst="roundRect">
            <a:avLst>
              <a:gd name="adj" fmla="val 1565"/>
            </a:avLst>
          </a:prstGeom>
          <a:solidFill>
            <a:srgbClr val="474A3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285" y="4513163"/>
            <a:ext cx="153488" cy="12283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54603" y="4492129"/>
            <a:ext cx="1487153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Classic example: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"The bank executive sat by the river </a:t>
            </a:r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bank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 — attention disambiguates both meanings of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bank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from surrounding context.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805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Prompt Engineering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43149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quality of your prompt directly determines the quality of the model's response.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070993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Weak vs. Improved Prompts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61475" y="2475607"/>
            <a:ext cx="5238421" cy="2379266"/>
          </a:xfrm>
          <a:prstGeom prst="roundRect">
            <a:avLst>
              <a:gd name="adj" fmla="val 1013"/>
            </a:avLst>
          </a:prstGeom>
          <a:solidFill>
            <a:srgbClr val="3B3C3E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475607"/>
            <a:ext cx="2619210" cy="2379266"/>
          </a:xfrm>
          <a:custGeom>
            <a:avLst/>
            <a:gdLst/>
            <a:ahLst/>
            <a:cxnLst/>
            <a:rect l="l" t="t" r="r" b="b"/>
            <a:pathLst>
              <a:path w="2619210" h="2379266">
                <a:moveTo>
                  <a:pt x="20083" y="0"/>
                </a:moveTo>
                <a:lnTo>
                  <a:pt x="2619210" y="0"/>
                </a:lnTo>
                <a:lnTo>
                  <a:pt x="2619210" y="2379266"/>
                </a:lnTo>
                <a:lnTo>
                  <a:pt x="20083" y="2379266"/>
                </a:lnTo>
                <a:arcTo hR="20084" wR="20083" stAng="5400000" swAng="5400000"/>
                <a:lnTo>
                  <a:pt x="0" y="20084"/>
                </a:lnTo>
                <a:arcTo hR="20084" wR="20083" stAng="10800000" swAng="5400000"/>
                <a:close/>
              </a:path>
            </a:pathLst>
          </a:cu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822106" y="2636242"/>
            <a:ext cx="2297948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Weak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106" y="3030141"/>
            <a:ext cx="229794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"Explain transformers" → Generic, surface-level response with no structure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80685" y="2475607"/>
            <a:ext cx="2619210" cy="2379266"/>
          </a:xfrm>
          <a:custGeom>
            <a:avLst/>
            <a:gdLst/>
            <a:ahLst/>
            <a:cxnLst/>
            <a:rect l="l" t="t" r="r" b="b"/>
            <a:pathLst>
              <a:path w="2619210" h="2379266">
                <a:moveTo>
                  <a:pt x="0" y="0"/>
                </a:moveTo>
                <a:lnTo>
                  <a:pt x="2599127" y="0"/>
                </a:lnTo>
                <a:arcTo hR="20084" wR="20083" stAng="16200000" swAng="5400000"/>
                <a:lnTo>
                  <a:pt x="2619210" y="2359182"/>
                </a:lnTo>
                <a:arcTo hR="20084" wR="20083" stAng="0" swAng="5400000"/>
                <a:lnTo>
                  <a:pt x="0" y="2379266"/>
                </a:lnTo>
                <a:lnTo>
                  <a:pt x="0" y="0"/>
                </a:lnTo>
                <a:close/>
              </a:path>
            </a:pathLst>
          </a:custGeom>
          <a:solidFill>
            <a:srgbClr val="3B3C3E"/>
          </a:solidFill>
          <a:ln/>
        </p:spPr>
      </p:sp>
      <p:sp>
        <p:nvSpPr>
          <p:cNvPr id="10" name="Shape 8"/>
          <p:cNvSpPr/>
          <p:nvPr/>
        </p:nvSpPr>
        <p:spPr>
          <a:xfrm>
            <a:off x="3280685" y="2475607"/>
            <a:ext cx="19050" cy="2379266"/>
          </a:xfrm>
          <a:prstGeom prst="roundRect">
            <a:avLst>
              <a:gd name="adj" fmla="val 49999"/>
            </a:avLst>
          </a:prstGeom>
          <a:solidFill>
            <a:srgbClr val="545557"/>
          </a:solidFill>
          <a:ln/>
        </p:spPr>
      </p:sp>
      <p:sp>
        <p:nvSpPr>
          <p:cNvPr id="11" name="Text 9"/>
          <p:cNvSpPr/>
          <p:nvPr/>
        </p:nvSpPr>
        <p:spPr>
          <a:xfrm>
            <a:off x="3441316" y="2636242"/>
            <a:ext cx="2297948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Improved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441316" y="3030141"/>
            <a:ext cx="2297948" cy="166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"Explain transformer architecture to a first-year engineer in simple language. Include self-attention and one real-world example." → Focused, detailed, actionable response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98149" y="2070993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Prompting Techniques</a:t>
            </a:r>
            <a:endParaRPr lang="en-US" sz="15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8149" y="2503686"/>
            <a:ext cx="240996" cy="2410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75667" y="2510730"/>
            <a:ext cx="486090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Zero-Shot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675667" y="2898279"/>
            <a:ext cx="486090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Ask directly without any examples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8149" y="3437136"/>
            <a:ext cx="240996" cy="2410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75667" y="3444180"/>
            <a:ext cx="486090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Few-Shot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675667" y="3831729"/>
            <a:ext cx="486090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Provide sample input-output pairs before the question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8149" y="4370586"/>
            <a:ext cx="240996" cy="2410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667" y="4377630"/>
            <a:ext cx="486090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Role Prompting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675667" y="4765179"/>
            <a:ext cx="486090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"Act as a teacher explaining to a student…"</a:t>
            </a:r>
            <a:endParaRPr lang="en-US" sz="12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8149" y="5304036"/>
            <a:ext cx="240996" cy="2410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75667" y="5311080"/>
            <a:ext cx="486090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Chain-of-Thought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675667" y="5698629"/>
            <a:ext cx="486090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"Think step-by-step…" for complex reasoning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997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Context Window &amp; Multimodal AI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951930"/>
            <a:ext cx="50132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Part A — Context Window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2339479"/>
            <a:ext cx="5013200" cy="1046361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Definition: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Maximum text the model can consider at one time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Older models: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2K–4K tokens; 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Newer models: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100K+ tokens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Challenge: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Information beyond the window is truncated and "forgotten"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3579515"/>
            <a:ext cx="5013200" cy="19050"/>
          </a:xfrm>
          <a:prstGeom prst="roundRect">
            <a:avLst>
              <a:gd name="adj" fmla="val 49999"/>
            </a:avLst>
          </a:prstGeom>
          <a:solidFill>
            <a:srgbClr val="C2C4B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792240"/>
            <a:ext cx="50132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Part B — Multimodal AI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4179788"/>
            <a:ext cx="5013200" cy="1521817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Capability: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Process text, images, audio, and video simultaneously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Example: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Upload an image → AI describes content, answers questions, extracts text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Impact: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Enables richer understanding and more versatile real-world applications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2929" y="1460401"/>
            <a:ext cx="4643917" cy="4644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48580"/>
            <a:ext cx="6296860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Ethics &amp; Responsible AI</a:t>
            </a:r>
            <a:endParaRPr lang="en-US" sz="2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023243"/>
            <a:ext cx="6296860" cy="9760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39660" y="1111052"/>
            <a:ext cx="14049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91250" y="1491555"/>
            <a:ext cx="60373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Verify Information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91250" y="1717873"/>
            <a:ext cx="603731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 can hallucinate facts confidently. Always fact-check outputs against credible sources before submission.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071787"/>
            <a:ext cx="6296860" cy="9760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39660" y="2159595"/>
            <a:ext cx="14049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791250" y="2540099"/>
            <a:ext cx="60373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Attribute AI Assistance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791250" y="2766417"/>
            <a:ext cx="603731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Cite AI tools used in your academic work. Never present AI-generated content as entirely your own.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120330"/>
            <a:ext cx="6296860" cy="9760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39660" y="3208139"/>
            <a:ext cx="14049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791250" y="3588643"/>
            <a:ext cx="60373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 as a Learning Tool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791250" y="3814961"/>
            <a:ext cx="603731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 accelerates exploration — not a shortcut to skip understanding. Engage deeply with the material.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168874"/>
            <a:ext cx="6296860" cy="97601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39660" y="4256683"/>
            <a:ext cx="14049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791250" y="4637187"/>
            <a:ext cx="60373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Own Accountability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791250" y="4863505"/>
            <a:ext cx="603731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You are responsible for explaining and defending every element of your submitted work.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3470" y="5226447"/>
            <a:ext cx="4092869" cy="108297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079264" y="5592621"/>
            <a:ext cx="618646" cy="11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 Assistance</a:t>
            </a:r>
            <a:endParaRPr lang="en-US" sz="650" dirty="0"/>
          </a:p>
        </p:txBody>
      </p:sp>
      <p:sp>
        <p:nvSpPr>
          <p:cNvPr id="22" name="Text 14"/>
          <p:cNvSpPr/>
          <p:nvPr/>
        </p:nvSpPr>
        <p:spPr>
          <a:xfrm>
            <a:off x="2079264" y="5734901"/>
            <a:ext cx="618646" cy="215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 AI tools as helpers, not sources</a:t>
            </a:r>
            <a:endParaRPr lang="en-US" sz="550" dirty="0"/>
          </a:p>
        </p:txBody>
      </p:sp>
      <p:sp>
        <p:nvSpPr>
          <p:cNvPr id="23" name="Text 15"/>
          <p:cNvSpPr/>
          <p:nvPr/>
        </p:nvSpPr>
        <p:spPr>
          <a:xfrm>
            <a:off x="2788187" y="5585606"/>
            <a:ext cx="618646" cy="11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Verify</a:t>
            </a:r>
            <a:endParaRPr lang="en-US" sz="650" dirty="0"/>
          </a:p>
        </p:txBody>
      </p:sp>
      <p:sp>
        <p:nvSpPr>
          <p:cNvPr id="24" name="Text 16"/>
          <p:cNvSpPr/>
          <p:nvPr/>
        </p:nvSpPr>
        <p:spPr>
          <a:xfrm>
            <a:off x="2788187" y="5727886"/>
            <a:ext cx="618646" cy="215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Fact-check outputs against reliable sources</a:t>
            </a:r>
            <a:endParaRPr lang="en-US" sz="550" dirty="0"/>
          </a:p>
        </p:txBody>
      </p:sp>
      <p:sp>
        <p:nvSpPr>
          <p:cNvPr id="25" name="Text 17"/>
          <p:cNvSpPr/>
          <p:nvPr/>
        </p:nvSpPr>
        <p:spPr>
          <a:xfrm>
            <a:off x="3497110" y="5592621"/>
            <a:ext cx="618646" cy="11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Understand</a:t>
            </a:r>
            <a:endParaRPr lang="en-US" sz="650" dirty="0"/>
          </a:p>
        </p:txBody>
      </p:sp>
      <p:sp>
        <p:nvSpPr>
          <p:cNvPr id="26" name="Text 18"/>
          <p:cNvSpPr/>
          <p:nvPr/>
        </p:nvSpPr>
        <p:spPr>
          <a:xfrm>
            <a:off x="3497110" y="5734901"/>
            <a:ext cx="618646" cy="215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Assess how and why the AI produced results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4206033" y="5585606"/>
            <a:ext cx="618646" cy="11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Explain</a:t>
            </a:r>
            <a:endParaRPr lang="en-US" sz="650" dirty="0"/>
          </a:p>
        </p:txBody>
      </p:sp>
      <p:sp>
        <p:nvSpPr>
          <p:cNvPr id="28" name="Text 20"/>
          <p:cNvSpPr/>
          <p:nvPr/>
        </p:nvSpPr>
        <p:spPr>
          <a:xfrm>
            <a:off x="4206033" y="5727886"/>
            <a:ext cx="618646" cy="215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Document reasoning and limitations clearly</a:t>
            </a:r>
            <a:endParaRPr lang="en-US" sz="550" dirty="0"/>
          </a:p>
        </p:txBody>
      </p:sp>
      <p:sp>
        <p:nvSpPr>
          <p:cNvPr id="29" name="Text 21"/>
          <p:cNvSpPr/>
          <p:nvPr/>
        </p:nvSpPr>
        <p:spPr>
          <a:xfrm>
            <a:off x="4918895" y="5592621"/>
            <a:ext cx="618646" cy="11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Cite</a:t>
            </a:r>
            <a:endParaRPr lang="en-US" sz="650" dirty="0"/>
          </a:p>
        </p:txBody>
      </p:sp>
      <p:sp>
        <p:nvSpPr>
          <p:cNvPr id="30" name="Text 22"/>
          <p:cNvSpPr/>
          <p:nvPr/>
        </p:nvSpPr>
        <p:spPr>
          <a:xfrm>
            <a:off x="4918895" y="5734901"/>
            <a:ext cx="618646" cy="215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Attribute AI tools and source materials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458"/>
            <a:ext cx="10868745" cy="32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Takeaways &amp; References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1017488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Concepts Covered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243310"/>
            <a:ext cx="207263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61475" y="1406723"/>
            <a:ext cx="5307971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483916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LLM Platforms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1475" y="1702693"/>
            <a:ext cx="5307971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ChatGPT, Gemini, and Claude — strengths and differences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1475" y="1965623"/>
            <a:ext cx="207263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1475" y="2129036"/>
            <a:ext cx="5307971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206228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Transformer Architecture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1475" y="2425005"/>
            <a:ext cx="5307971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Encoder, decoder, self-attention, stacked layers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1475" y="2687935"/>
            <a:ext cx="207263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1475" y="2851348"/>
            <a:ext cx="5307971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2928541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Tokens &amp; Embeddings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1475" y="3147318"/>
            <a:ext cx="5307971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How language becomes numbers the model can process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475" y="3410248"/>
            <a:ext cx="207263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1475" y="3573661"/>
            <a:ext cx="5307971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650853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Attention Mechanism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1475" y="3869630"/>
            <a:ext cx="5307971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Query, Key, Value — contextual word understanding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1475" y="4132560"/>
            <a:ext cx="207263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61475" y="4295973"/>
            <a:ext cx="5307971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4373166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Prompt Engineering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1475" y="4591943"/>
            <a:ext cx="5307971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Zero-shot, few-shot, role prompting, chain-of-thought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1475" y="4854873"/>
            <a:ext cx="207263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1475" y="5018286"/>
            <a:ext cx="5307971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6" name="Text 24"/>
          <p:cNvSpPr/>
          <p:nvPr/>
        </p:nvSpPr>
        <p:spPr>
          <a:xfrm>
            <a:off x="661475" y="5095478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Context Window &amp; Multimodal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1475" y="5314255"/>
            <a:ext cx="5307971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Token limits, memory, and multi-format input processing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1475" y="5577185"/>
            <a:ext cx="207263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1475" y="5740598"/>
            <a:ext cx="5307971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5817791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Responsible 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1475" y="6036568"/>
            <a:ext cx="5307971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Verify, attribute, understand, and cite your AI use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28599" y="1017488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References</a:t>
            </a:r>
            <a:endParaRPr lang="en-US" sz="10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5899" y="1230610"/>
            <a:ext cx="2631116" cy="50095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357580" y="1243310"/>
            <a:ext cx="248943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OpenAI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357580" y="1462088"/>
            <a:ext cx="2489435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ChatGPT Documentation — platform.openai.com</a:t>
            </a:r>
            <a:endParaRPr lang="en-US" sz="8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5355" y="1230610"/>
            <a:ext cx="2631215" cy="500955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9047035" y="1243310"/>
            <a:ext cx="248953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Google DeepMind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9047035" y="1462088"/>
            <a:ext cx="2489535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Gemini Official Resources — deepmind.google/gemini</a:t>
            </a:r>
            <a:endParaRPr lang="en-US" sz="8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5899" y="1819870"/>
            <a:ext cx="2631116" cy="500955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357580" y="1832570"/>
            <a:ext cx="248943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357580" y="2051348"/>
            <a:ext cx="2489435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Claude Documentation — anthropic.com/claude</a:t>
            </a:r>
            <a:endParaRPr lang="en-US" sz="8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05355" y="1819870"/>
            <a:ext cx="2631215" cy="500955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9047035" y="1832570"/>
            <a:ext cx="248953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Vaswani et al., 2017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9047035" y="2051348"/>
            <a:ext cx="2489535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"Attention is All You Need" — Foundational transformer paper</a:t>
            </a:r>
            <a:endParaRPr lang="en-US" sz="8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5899" y="2409130"/>
            <a:ext cx="5320671" cy="372566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357580" y="2421830"/>
            <a:ext cx="51789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Additional Sources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6357580" y="2640608"/>
            <a:ext cx="5178990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[Add further references consulted during your research]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2026-08-26T14:32:19Z</dcterms:created>
  <dcterms:modified xsi:type="dcterms:W3CDTF">2026-08-26T14:32:19Z</dcterms:modified>
</cp:coreProperties>
</file>